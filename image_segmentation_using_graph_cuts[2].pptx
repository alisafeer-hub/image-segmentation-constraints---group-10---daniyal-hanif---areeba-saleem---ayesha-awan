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0" r:id="rId1"/>
  </p:sldMasterIdLst>
  <p:sldIdLst>
    <p:sldId id="256" r:id="rId2"/>
    <p:sldId id="259" r:id="rId3"/>
    <p:sldId id="260" r:id="rId4"/>
    <p:sldId id="263" r:id="rId5"/>
    <p:sldId id="264" r:id="rId6"/>
    <p:sldId id="265" r:id="rId7"/>
    <p:sldId id="262" r:id="rId8"/>
    <p:sldId id="261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32" autoAdjust="0"/>
  </p:normalViewPr>
  <p:slideViewPr>
    <p:cSldViewPr snapToGrid="0">
      <p:cViewPr varScale="1">
        <p:scale>
          <a:sx n="82" d="100"/>
          <a:sy n="82" d="100"/>
        </p:scale>
        <p:origin x="720" y="5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3200" dirty="0">
                <a:solidFill>
                  <a:schemeClr val="bg1"/>
                </a:solidFill>
              </a:rPr>
              <a:t>Results on BSDS</a:t>
            </a:r>
            <a:r>
              <a:rPr lang="en-US" sz="3200" baseline="0" dirty="0">
                <a:solidFill>
                  <a:schemeClr val="bg1"/>
                </a:solidFill>
              </a:rPr>
              <a:t> Dataset Model</a:t>
            </a:r>
            <a:endParaRPr lang="en-US" sz="3200" dirty="0">
              <a:solidFill>
                <a:schemeClr val="bg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2"/>
                <c:pt idx="0">
                  <c:v>Grab cut</c:v>
                </c:pt>
                <c:pt idx="1">
                  <c:v>K-Means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92.5</c:v>
                </c:pt>
                <c:pt idx="1">
                  <c:v>85.4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FDC-4B61-9C73-9160AB012F8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2"/>
                <c:pt idx="0">
                  <c:v>Grab cut</c:v>
                </c:pt>
                <c:pt idx="1">
                  <c:v>K-Means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83.7</c:v>
                </c:pt>
                <c:pt idx="1">
                  <c:v>72.099999999999994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FDC-4B61-9C73-9160AB012F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426682208"/>
        <c:axId val="1426671168"/>
      </c:barChart>
      <c:catAx>
        <c:axId val="14266822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26671168"/>
        <c:crosses val="autoZero"/>
        <c:auto val="1"/>
        <c:lblAlgn val="ctr"/>
        <c:lblOffset val="100"/>
        <c:noMultiLvlLbl val="0"/>
      </c:catAx>
      <c:valAx>
        <c:axId val="14266711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266822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9B0C5-4F4D-4444-A93C-06201195C6F6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C14D1-692F-4FDE-998F-267064DF9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0030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9B0C5-4F4D-4444-A93C-06201195C6F6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C14D1-692F-4FDE-998F-267064DF9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103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9B0C5-4F4D-4444-A93C-06201195C6F6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C14D1-692F-4FDE-998F-267064DF9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1632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9B0C5-4F4D-4444-A93C-06201195C6F6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C14D1-692F-4FDE-998F-267064DF9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44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9B0C5-4F4D-4444-A93C-06201195C6F6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C14D1-692F-4FDE-998F-267064DF96A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40510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9B0C5-4F4D-4444-A93C-06201195C6F6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C14D1-692F-4FDE-998F-267064DF9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737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9B0C5-4F4D-4444-A93C-06201195C6F6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C14D1-692F-4FDE-998F-267064DF9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400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9B0C5-4F4D-4444-A93C-06201195C6F6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C14D1-692F-4FDE-998F-267064DF9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536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8C39B0C5-4F4D-4444-A93C-06201195C6F6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C14D1-692F-4FDE-998F-267064DF9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684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9B0C5-4F4D-4444-A93C-06201195C6F6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C14D1-692F-4FDE-998F-267064DF9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997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9B0C5-4F4D-4444-A93C-06201195C6F6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C14D1-692F-4FDE-998F-267064DF9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629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8C39B0C5-4F4D-4444-A93C-06201195C6F6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22CC14D1-692F-4FDE-998F-267064DF9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890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30935-A6F0-4F29-78E0-003E80E6CB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30013" y="10160"/>
            <a:ext cx="9283959" cy="3058160"/>
          </a:xfrm>
        </p:spPr>
        <p:txBody>
          <a:bodyPr>
            <a:normAutofit/>
          </a:bodyPr>
          <a:lstStyle/>
          <a:p>
            <a:r>
              <a:rPr lang="en-US" dirty="0"/>
              <a:t>Image Segmentation using Graph Cuts and Constraint Clustering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A2D566-E8BF-9781-2015-A5856FFFDC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241040"/>
            <a:ext cx="6801612" cy="2438400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2"/>
                </a:solidFill>
              </a:rPr>
              <a:t>👩‍💻 </a:t>
            </a:r>
            <a:r>
              <a:rPr lang="en-US" sz="3600" b="1" dirty="0">
                <a:solidFill>
                  <a:schemeClr val="bg2"/>
                </a:solidFill>
              </a:rPr>
              <a:t>By:</a:t>
            </a:r>
            <a:br>
              <a:rPr lang="en-US" sz="3600" dirty="0">
                <a:solidFill>
                  <a:schemeClr val="bg2"/>
                </a:solidFill>
              </a:rPr>
            </a:br>
            <a:r>
              <a:rPr lang="en-US" sz="3600" dirty="0">
                <a:solidFill>
                  <a:schemeClr val="bg2"/>
                </a:solidFill>
              </a:rPr>
              <a:t>Ariba M Saleem [B2331022]</a:t>
            </a:r>
            <a:br>
              <a:rPr lang="en-US" sz="3600" dirty="0">
                <a:solidFill>
                  <a:schemeClr val="bg2"/>
                </a:solidFill>
              </a:rPr>
            </a:br>
            <a:r>
              <a:rPr lang="en-US" sz="3600" dirty="0">
                <a:solidFill>
                  <a:schemeClr val="bg2"/>
                </a:solidFill>
              </a:rPr>
              <a:t>Ayesha Awan [B2331027]</a:t>
            </a:r>
          </a:p>
          <a:p>
            <a:pPr algn="l"/>
            <a:r>
              <a:rPr lang="en-US" sz="3600" dirty="0">
                <a:solidFill>
                  <a:schemeClr val="bg2"/>
                </a:solidFill>
              </a:rPr>
              <a:t>Daniyal hanif [B2331034]</a:t>
            </a:r>
          </a:p>
        </p:txBody>
      </p:sp>
    </p:spTree>
    <p:extLst>
      <p:ext uri="{BB962C8B-B14F-4D97-AF65-F5344CB8AC3E}">
        <p14:creationId xmlns:p14="http://schemas.microsoft.com/office/powerpoint/2010/main" val="2748132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150CC-9C3E-87C1-E330-C9AA5BFE99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9080" y="49944"/>
            <a:ext cx="8991600" cy="1645920"/>
          </a:xfrm>
        </p:spPr>
        <p:txBody>
          <a:bodyPr/>
          <a:lstStyle/>
          <a:p>
            <a:r>
              <a:rPr lang="en-US" b="1" dirty="0"/>
              <a:t>Introduction to Image Segmentation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54CC5B-8E78-AC7C-25CD-CC8070B62A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828800"/>
            <a:ext cx="12120880" cy="4947920"/>
          </a:xfrm>
        </p:spPr>
        <p:txBody>
          <a:bodyPr>
            <a:normAutofit fontScale="92500" lnSpcReduction="10000"/>
          </a:bodyPr>
          <a:lstStyle/>
          <a:p>
            <a:pPr lvl="0" algn="l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What is Image Segmentation?</a:t>
            </a:r>
          </a:p>
          <a:p>
            <a:pPr lvl="0" algn="l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It’s a process where we divide an image into meaningful parts or segments.</a:t>
            </a:r>
          </a:p>
          <a:p>
            <a:pPr lvl="0" algn="l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Think of it like coloring each object or region in the image differently so a computer can “see” distinct areas.</a:t>
            </a:r>
          </a:p>
          <a:p>
            <a:pPr lvl="0" algn="l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Why do we do it?</a:t>
            </a:r>
          </a:p>
          <a:p>
            <a:pPr lvl="0" algn="l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Makes analyzing images easier.</a:t>
            </a:r>
          </a:p>
          <a:p>
            <a:pPr lvl="0" algn="l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Helps computers understand the contents of an image, such as detecting objects, tumors, roads, or faces.</a:t>
            </a:r>
          </a:p>
          <a:p>
            <a:pPr lvl="0" algn="l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Applications:</a:t>
            </a:r>
          </a:p>
          <a:p>
            <a:pPr lvl="0" algn="l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Medical Imaging: Highlighting organs or tumors.</a:t>
            </a:r>
          </a:p>
          <a:p>
            <a:pPr lvl="0" algn="l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Object Detection: Detecting cars, people, animals in photos or videos.</a:t>
            </a:r>
          </a:p>
          <a:p>
            <a:pPr lvl="0" algn="l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Computer Vision: Used in robotics, autonomous cars, photo editing, etc.</a:t>
            </a:r>
          </a:p>
          <a:p>
            <a:pPr lvl="0" algn="l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What this project does:</a:t>
            </a:r>
          </a:p>
          <a:p>
            <a:pPr lvl="0" algn="l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Compares Graph Cuts (</a:t>
            </a:r>
            <a:r>
              <a:rPr lang="en-US" altLang="en-US" sz="2400" dirty="0" err="1">
                <a:solidFill>
                  <a:schemeClr val="bg1">
                    <a:lumMod val="95000"/>
                    <a:lumOff val="5000"/>
                  </a:schemeClr>
                </a:solidFill>
              </a:rPr>
              <a:t>GrabCut</a:t>
            </a:r>
            <a:r>
              <a:rPr lang="en-US" altLang="en-US" sz="2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) vs Constraint Clustering (K-Means using LAB+XY features).</a:t>
            </a:r>
          </a:p>
          <a:p>
            <a:pPr lvl="0" algn="l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Basically, two ways to segment images and see which works better in different scenarios</a:t>
            </a:r>
          </a:p>
          <a:p>
            <a:endParaRPr lang="en-US" sz="24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4423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A404FA-7A0E-2CCF-8F00-0C4DA27E65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457200" indent="-457200" algn="l">
              <a:buAutoNum type="arabicPeriod"/>
            </a:pPr>
            <a:r>
              <a:rPr lang="en-US" sz="2800" dirty="0">
                <a:solidFill>
                  <a:schemeClr val="bg1"/>
                </a:solidFill>
              </a:rPr>
              <a:t>•Image is Loaded The program first reads the input </a:t>
            </a:r>
            <a:r>
              <a:rPr lang="en-US" sz="2800" dirty="0" err="1">
                <a:solidFill>
                  <a:schemeClr val="bg1"/>
                </a:solidFill>
              </a:rPr>
              <a:t>image.Example</a:t>
            </a:r>
            <a:r>
              <a:rPr lang="en-US" sz="2800" dirty="0">
                <a:solidFill>
                  <a:schemeClr val="bg1"/>
                </a:solidFill>
              </a:rPr>
              <a:t>: cv2.imread("image.jpg")</a:t>
            </a:r>
          </a:p>
          <a:p>
            <a:pPr marL="457200" indent="-457200" algn="l">
              <a:buAutoNum type="arabicPeriod"/>
            </a:pPr>
            <a:r>
              <a:rPr lang="en-US" sz="2800" dirty="0">
                <a:solidFill>
                  <a:schemeClr val="bg1"/>
                </a:solidFill>
              </a:rPr>
              <a:t>•Initial Bounding Box / Mask A rough rectangle is drawn around the </a:t>
            </a:r>
            <a:r>
              <a:rPr lang="en-US" sz="2800" dirty="0" err="1">
                <a:solidFill>
                  <a:schemeClr val="bg1"/>
                </a:solidFill>
              </a:rPr>
              <a:t>object.This</a:t>
            </a:r>
            <a:r>
              <a:rPr lang="en-US" sz="2800" dirty="0">
                <a:solidFill>
                  <a:schemeClr val="bg1"/>
                </a:solidFill>
              </a:rPr>
              <a:t> rectangle tells the algorithm where the foreground might be.</a:t>
            </a:r>
          </a:p>
          <a:p>
            <a:pPr marL="457200" indent="-457200" algn="l">
              <a:buAutoNum type="arabicPeriod"/>
            </a:pPr>
            <a:r>
              <a:rPr lang="en-US" sz="2800" dirty="0">
                <a:solidFill>
                  <a:schemeClr val="bg1"/>
                </a:solidFill>
              </a:rPr>
              <a:t>•Graph is Created Each pixel becomes a “node” in a </a:t>
            </a:r>
            <a:r>
              <a:rPr lang="en-US" sz="2800" dirty="0" err="1">
                <a:solidFill>
                  <a:schemeClr val="bg1"/>
                </a:solidFill>
              </a:rPr>
              <a:t>graph.The</a:t>
            </a:r>
            <a:r>
              <a:rPr lang="en-US" sz="2800" dirty="0">
                <a:solidFill>
                  <a:schemeClr val="bg1"/>
                </a:solidFill>
              </a:rPr>
              <a:t> algorithm checks how similar or different pixels are (color, texture, edges).</a:t>
            </a:r>
          </a:p>
          <a:p>
            <a:pPr marL="457200" indent="-457200" algn="l">
              <a:buAutoNum type="arabicPeriod"/>
            </a:pPr>
            <a:r>
              <a:rPr lang="en-US" sz="2800" dirty="0">
                <a:solidFill>
                  <a:schemeClr val="bg1"/>
                </a:solidFill>
              </a:rPr>
              <a:t>•Grab Cut Algorithm </a:t>
            </a:r>
            <a:r>
              <a:rPr lang="en-US" sz="2800" dirty="0" err="1">
                <a:solidFill>
                  <a:schemeClr val="bg1"/>
                </a:solidFill>
              </a:rPr>
              <a:t>Runscode</a:t>
            </a:r>
            <a:r>
              <a:rPr lang="en-US" sz="2800" dirty="0">
                <a:solidFill>
                  <a:schemeClr val="bg1"/>
                </a:solidFill>
              </a:rPr>
              <a:t> example:cv2.grabCut(image, mask, </a:t>
            </a:r>
            <a:r>
              <a:rPr lang="en-US" sz="2800" dirty="0" err="1">
                <a:solidFill>
                  <a:schemeClr val="bg1"/>
                </a:solidFill>
              </a:rPr>
              <a:t>rect</a:t>
            </a:r>
            <a:r>
              <a:rPr lang="en-US" sz="2800" dirty="0">
                <a:solidFill>
                  <a:schemeClr val="bg1"/>
                </a:solidFill>
              </a:rPr>
              <a:t>, </a:t>
            </a:r>
            <a:r>
              <a:rPr lang="en-US" sz="2800" dirty="0" err="1">
                <a:solidFill>
                  <a:schemeClr val="bg1"/>
                </a:solidFill>
              </a:rPr>
              <a:t>bgmodel</a:t>
            </a:r>
            <a:r>
              <a:rPr lang="en-US" sz="2800" dirty="0">
                <a:solidFill>
                  <a:schemeClr val="bg1"/>
                </a:solidFill>
              </a:rPr>
              <a:t>, </a:t>
            </a:r>
            <a:r>
              <a:rPr lang="en-US" sz="2800" dirty="0" err="1">
                <a:solidFill>
                  <a:schemeClr val="bg1"/>
                </a:solidFill>
              </a:rPr>
              <a:t>fgmodel</a:t>
            </a:r>
            <a:r>
              <a:rPr lang="en-US" sz="2800" dirty="0">
                <a:solidFill>
                  <a:schemeClr val="bg1"/>
                </a:solidFill>
              </a:rPr>
              <a:t>, iterations, mode)It separates likely foreground pixels from background pixels After each iteration, the result becomes cleaner.</a:t>
            </a:r>
          </a:p>
          <a:p>
            <a:pPr marL="457200" indent="-457200" algn="l">
              <a:buAutoNum type="arabicPeriod"/>
            </a:pPr>
            <a:r>
              <a:rPr lang="en-US" sz="2800" dirty="0">
                <a:solidFill>
                  <a:schemeClr val="bg1"/>
                </a:solidFill>
              </a:rPr>
              <a:t> Final Output</a:t>
            </a:r>
          </a:p>
          <a:p>
            <a:pPr marL="457200" indent="-457200" algn="l">
              <a:buAutoNum type="arabicPeriod"/>
            </a:pPr>
            <a:r>
              <a:rPr lang="en-US" sz="2800" dirty="0">
                <a:solidFill>
                  <a:schemeClr val="bg1"/>
                </a:solidFill>
              </a:rPr>
              <a:t>•The background is removed</a:t>
            </a:r>
          </a:p>
          <a:p>
            <a:pPr marL="457200" indent="-457200" algn="l">
              <a:buAutoNum type="arabicPeriod"/>
            </a:pPr>
            <a:r>
              <a:rPr lang="en-US" sz="2800" dirty="0">
                <a:solidFill>
                  <a:schemeClr val="bg1"/>
                </a:solidFill>
              </a:rPr>
              <a:t>•only the clear foreground object remain</a:t>
            </a:r>
          </a:p>
        </p:txBody>
      </p:sp>
    </p:spTree>
    <p:extLst>
      <p:ext uri="{BB962C8B-B14F-4D97-AF65-F5344CB8AC3E}">
        <p14:creationId xmlns:p14="http://schemas.microsoft.com/office/powerpoint/2010/main" val="41087529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11ED3-CA83-7DA0-F033-D080F9019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208" y="1"/>
            <a:ext cx="7729728" cy="112734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Why Constraints Are Needed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7FB009-45E4-1763-B4F0-268FFA6803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5040" y="926927"/>
            <a:ext cx="7729728" cy="3656330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endParaRPr lang="en-US" sz="11200" b="1" dirty="0"/>
          </a:p>
          <a:p>
            <a:r>
              <a:rPr lang="en-US" sz="11200" dirty="0"/>
              <a:t>Without constraints, segmentation can be noisy or inaccurate.</a:t>
            </a:r>
          </a:p>
          <a:p>
            <a:r>
              <a:rPr lang="en-US" sz="11200" dirty="0"/>
              <a:t>Constraints guide the algorithm to produce more </a:t>
            </a:r>
            <a:r>
              <a:rPr lang="en-US" sz="11200" b="1" dirty="0"/>
              <a:t>realistic and consistent</a:t>
            </a:r>
            <a:r>
              <a:rPr lang="en-US" sz="11200" dirty="0"/>
              <a:t> regions.</a:t>
            </a:r>
          </a:p>
          <a:p>
            <a:r>
              <a:rPr lang="en-US" sz="11200" dirty="0"/>
              <a:t>They improve model performance and prevent overfitting.</a:t>
            </a:r>
          </a:p>
          <a:p>
            <a:r>
              <a:rPr lang="en-US" sz="11200" b="1" dirty="0"/>
              <a:t>Types of Constraints</a:t>
            </a:r>
          </a:p>
          <a:p>
            <a:r>
              <a:rPr lang="en-US" sz="11200" b="1" dirty="0"/>
              <a:t>Spatial Constraints:</a:t>
            </a:r>
            <a:r>
              <a:rPr lang="en-US" sz="11200" dirty="0"/>
              <a:t> Maintain neighborhood relationships between pixels.</a:t>
            </a:r>
          </a:p>
          <a:p>
            <a:r>
              <a:rPr lang="en-US" sz="11200" b="1" dirty="0"/>
              <a:t>Shape Constraints:</a:t>
            </a:r>
            <a:r>
              <a:rPr lang="en-US" sz="11200" dirty="0"/>
              <a:t> Preserve geometric structure of objects.</a:t>
            </a:r>
          </a:p>
          <a:p>
            <a:r>
              <a:rPr lang="en-US" sz="11200" b="1" dirty="0"/>
              <a:t>Topological Constraints:</a:t>
            </a:r>
            <a:r>
              <a:rPr lang="en-US" sz="11200" dirty="0"/>
              <a:t> Keep connected components intact.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6111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B2BDA-8F9B-A92A-0128-078910A95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Mathematical View of Constraints</a:t>
            </a:r>
            <a:br>
              <a:rPr lang="en-US" b="1" dirty="0"/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7A0376-6730-B4B6-1CC9-931528DB89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buNone/>
                </a:pPr>
                <a:endParaRPr lang="en-US" sz="2800" b="1" dirty="0"/>
              </a:p>
              <a:p>
                <a:r>
                  <a:rPr lang="en-US" sz="2800" dirty="0"/>
                  <a:t>Segmentation = Optimization Problem</a:t>
                </a:r>
              </a:p>
              <a:p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𝐷𝑎𝑡𝑎</m:t>
                    </m:r>
                    <m:r>
                      <m:rPr>
                        <m:lit/>
                      </m:rPr>
                      <a:rPr lang="en-US" sz="280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𝑇𝑒𝑟𝑚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𝐶𝑜𝑛𝑠𝑡𝑟𝑎𝑖𝑛𝑡</m:t>
                    </m:r>
                    <m:r>
                      <m:rPr>
                        <m:lit/>
                      </m:rPr>
                      <a:rPr lang="en-US" sz="280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𝑇𝑒𝑟𝑚</m:t>
                    </m:r>
                  </m:oMath>
                </a14:m>
                <a:endParaRPr lang="en-US" sz="2800" dirty="0"/>
              </a:p>
              <a:p>
                <a:r>
                  <a:rPr lang="en-US" sz="2800" dirty="0"/>
                  <a:t>The </a:t>
                </a:r>
                <a:r>
                  <a:rPr lang="en-US" sz="2800" b="1" dirty="0"/>
                  <a:t>constraint term</a:t>
                </a:r>
                <a:r>
                  <a:rPr lang="en-US" sz="2800" dirty="0"/>
                  <a:t> penalizes violations of spatial, shape, or label consistency.</a:t>
                </a:r>
              </a:p>
              <a:p>
                <a:r>
                  <a:rPr lang="en-US" sz="2800" dirty="0"/>
                  <a:t>Used in models like CRFs, MRFs, and deep learning-based segmentation.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7A0376-6730-B4B6-1CC9-931528DB89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20" b="-210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736492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44282-99A6-55E0-CBB5-97972651A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Deep Learning + Constraints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B6852B-7BC9-69A5-ADEB-D51CC96653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US" sz="2800" b="1" dirty="0"/>
          </a:p>
          <a:p>
            <a:r>
              <a:rPr lang="en-US" sz="2800" dirty="0"/>
              <a:t>CNNs or Transformers (like BERT for vision) handle feature learning.</a:t>
            </a:r>
          </a:p>
          <a:p>
            <a:r>
              <a:rPr lang="en-US" sz="2800" dirty="0"/>
              <a:t>CSP (Constraint Satisfaction Problem) adds logical consistency.</a:t>
            </a:r>
          </a:p>
          <a:p>
            <a:r>
              <a:rPr lang="en-US" sz="2800" b="1" dirty="0"/>
              <a:t>BERT + CSP Constraints:</a:t>
            </a:r>
            <a:r>
              <a:rPr lang="en-US" sz="2800" dirty="0"/>
              <a:t> combine semantic understanding with spatial logic.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22381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D7DC0B1-FCBD-716F-5CDF-B85CCCD4F3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7282" y="102637"/>
            <a:ext cx="11896530" cy="6923314"/>
          </a:xfrm>
        </p:spPr>
        <p:txBody>
          <a:bodyPr>
            <a:normAutofit/>
          </a:bodyPr>
          <a:lstStyle/>
          <a:p>
            <a:pPr algn="l"/>
            <a:r>
              <a:rPr lang="en-US" sz="2800" dirty="0">
                <a:solidFill>
                  <a:schemeClr val="bg1"/>
                </a:solidFill>
              </a:rPr>
              <a:t>Errors, Fixes &amp; Conclusion: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</a:rPr>
              <a:t> Errors, Fixes, and Final Thoughts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</a:rPr>
              <a:t>Common Errors (During Implementation)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</a:rPr>
              <a:t>Over-segmentation: The model divided regions too finely when colors were similar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</a:rPr>
              <a:t>Weak Boundaries: Foreground and background overlapped at object edges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</a:rPr>
              <a:t>Fixes Used :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</a:rPr>
              <a:t>Applied morphological operations to remove extra small noisy segments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</a:rPr>
              <a:t>Used iterative GrabCut refinement to clearly separate object boundaries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</a:rPr>
              <a:t>Adjusted cluster values dynamically for better K-Means results.</a:t>
            </a:r>
          </a:p>
        </p:txBody>
      </p:sp>
    </p:spTree>
    <p:extLst>
      <p:ext uri="{BB962C8B-B14F-4D97-AF65-F5344CB8AC3E}">
        <p14:creationId xmlns:p14="http://schemas.microsoft.com/office/powerpoint/2010/main" val="34160668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7D58865-8BA3-E94C-B9DE-63848B8642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algn="l"/>
            <a:r>
              <a:rPr lang="en-US" sz="1800" dirty="0">
                <a:solidFill>
                  <a:schemeClr val="bg1"/>
                </a:solidFill>
              </a:rPr>
              <a:t>Results on BSDS Dataset Model	</a:t>
            </a:r>
          </a:p>
          <a:p>
            <a:pPr algn="l"/>
            <a:r>
              <a:rPr lang="en-US" sz="1800" dirty="0">
                <a:solidFill>
                  <a:schemeClr val="bg1"/>
                </a:solidFill>
              </a:rPr>
              <a:t>Pixel Accuracy	</a:t>
            </a:r>
            <a:r>
              <a:rPr lang="en-US" sz="1800" dirty="0" err="1">
                <a:solidFill>
                  <a:schemeClr val="bg1"/>
                </a:solidFill>
              </a:rPr>
              <a:t>IoU</a:t>
            </a:r>
            <a:r>
              <a:rPr lang="en-US" sz="1800" dirty="0">
                <a:solidFill>
                  <a:schemeClr val="bg1"/>
                </a:solidFill>
              </a:rPr>
              <a:t> Score GrabCut	92.5%	83.7%</a:t>
            </a:r>
          </a:p>
          <a:p>
            <a:pPr algn="l"/>
            <a:r>
              <a:rPr lang="en-US" sz="1800" dirty="0">
                <a:solidFill>
                  <a:schemeClr val="bg1"/>
                </a:solidFill>
              </a:rPr>
              <a:t>K-Means                                         	85.4%	72.1%</a:t>
            </a:r>
          </a:p>
          <a:p>
            <a:pPr algn="l"/>
            <a:r>
              <a:rPr lang="en-US" sz="1800" dirty="0">
                <a:solidFill>
                  <a:schemeClr val="bg1"/>
                </a:solidFill>
              </a:rPr>
              <a:t>Conclusion: GrabCut performed best overall with 92% accuracy and better </a:t>
            </a:r>
            <a:r>
              <a:rPr lang="en-US" sz="1800" dirty="0" err="1">
                <a:solidFill>
                  <a:schemeClr val="bg1"/>
                </a:solidFill>
              </a:rPr>
              <a:t>IoU</a:t>
            </a:r>
            <a:r>
              <a:rPr lang="en-US" sz="1800" dirty="0">
                <a:solidFill>
                  <a:schemeClr val="bg1"/>
                </a:solidFill>
              </a:rPr>
              <a:t>, meaning more accurate region detection.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602E5D08-F5DD-EFD0-48E4-3EB76F8F4E0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56886116"/>
              </p:ext>
            </p:extLst>
          </p:nvPr>
        </p:nvGraphicFramePr>
        <p:xfrm>
          <a:off x="2032000" y="1935804"/>
          <a:ext cx="8128000" cy="48151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768731341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151</TotalTime>
  <Words>592</Words>
  <Application>Microsoft Office PowerPoint</Application>
  <PresentationFormat>Widescreen</PresentationFormat>
  <Paragraphs>58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Cambria Math</vt:lpstr>
      <vt:lpstr>Gill Sans MT</vt:lpstr>
      <vt:lpstr>Parcel</vt:lpstr>
      <vt:lpstr>Image Segmentation using Graph Cuts and Constraint Clustering</vt:lpstr>
      <vt:lpstr>Introduction to Image Segmentation</vt:lpstr>
      <vt:lpstr>PowerPoint Presentation</vt:lpstr>
      <vt:lpstr>Why Constraints Are Needed </vt:lpstr>
      <vt:lpstr>Mathematical View of Constraints </vt:lpstr>
      <vt:lpstr>Deep Learning + Constraints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ARIBA M SALEEM</dc:creator>
  <cp:lastModifiedBy>ARIBA M SALEEM</cp:lastModifiedBy>
  <cp:revision>4</cp:revision>
  <dcterms:created xsi:type="dcterms:W3CDTF">2025-11-11T11:37:40Z</dcterms:created>
  <dcterms:modified xsi:type="dcterms:W3CDTF">2025-11-12T18:34:11Z</dcterms:modified>
</cp:coreProperties>
</file>